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864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REVIEW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79" y="1828800"/>
            <a:ext cx="10470943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TENDON DRIVEN CONTINUUM ROBOT LINKAGE -BASED FLEXIBLE PIPE INSPECTION ROBOT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Six-Wheel Self-Adjusting Locomotion with Tendon-Driven Continuum Steering for Autonomous Pipeline Inspection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3977640"/>
            <a:ext cx="2743200" cy="0"/>
          </a:xfrm>
          <a:prstGeom prst="line">
            <a:avLst/>
          </a:prstGeom>
          <a:noFill/>
          <a:ln w="25400">
            <a:solidFill>
              <a:srgbClr val="8FD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87261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ANJALI ULLAS (23BMH1064), HARSH VINOD BOPALIA (23BME1161), PARV KAPOOR (23BMV1026)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AROCKIA SELVAKUMAR</a:t>
            </a:r>
            <a:r>
              <a:rPr lang="en-US" sz="1400" b="1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Date: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August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63677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Analysis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198424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intelligent pipeline inspection matters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23544" y="2295144"/>
            <a:ext cx="0" cy="256032"/>
          </a:xfrm>
          <a:prstGeom prst="line">
            <a:avLst/>
          </a:prstGeom>
          <a:noFill/>
          <a:ln w="19050">
            <a:solidFill>
              <a:srgbClr val="D8E3E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5877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587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5328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28803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in-pipe robot technologies &amp; gaps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23544" y="3191256"/>
            <a:ext cx="0" cy="256032"/>
          </a:xfrm>
          <a:prstGeom prst="line">
            <a:avLst/>
          </a:prstGeom>
          <a:noFill/>
          <a:ln w="19050">
            <a:solidFill>
              <a:srgbClr val="D8E3E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348386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483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429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SDGs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37764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and sustainable development alignment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23544" y="4087368"/>
            <a:ext cx="0" cy="256032"/>
          </a:xfrm>
          <a:prstGeom prst="line">
            <a:avLst/>
          </a:prstGeom>
          <a:noFill/>
          <a:ln w="19050">
            <a:solidFill>
              <a:srgbClr val="D8E3E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437997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379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3251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Methodology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63040" y="467258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mechanism design, feasibility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23544" y="4983480"/>
            <a:ext cx="0" cy="256032"/>
          </a:xfrm>
          <a:prstGeom prst="line">
            <a:avLst/>
          </a:prstGeom>
          <a:noFill/>
          <a:ln w="19050">
            <a:solidFill>
              <a:srgbClr val="D8E3E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0080" y="52760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5276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63040" y="52212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Roadmap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463040" y="556869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and implementation plan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55280" y="1691640"/>
            <a:ext cx="3657600" cy="4434840"/>
          </a:xfrm>
          <a:prstGeom prst="rect">
            <a:avLst/>
          </a:prstGeom>
          <a:solidFill>
            <a:srgbClr val="E9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of Review 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0" y="2377440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&amp; research gap</a:t>
            </a:r>
            <a:endParaRPr lang="en-US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aligned to SDGs</a:t>
            </a:r>
            <a:endParaRPr lang="en-US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technical feasibility</a:t>
            </a:r>
            <a:endParaRPr lang="en-US" dirty="0"/>
          </a:p>
          <a:p>
            <a:pPr marL="177800" indent="-177800">
              <a:buSzPct val="100000"/>
              <a:buChar char="▪"/>
            </a:pPr>
            <a:r>
              <a:rPr lang="en-US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achieved so far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Pipeline Inspection Needs a Smarter Robot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pipelines (6-8 inch) in oil &amp; gas, chemical, water distribution, and power generation quietly age under corrosion, cracking, and weld degradation — yet most are only inspected manually, at great risk and cost.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5F8FA"/>
          </a:solidFill>
          <a:ln w="12700">
            <a:solidFill>
              <a:srgbClr val="E1E8EE"/>
            </a:solidFill>
            <a:prstDash val="solid"/>
          </a:ln>
          <a:effectLst>
            <a:outerShdw blurRad="76200" dist="25400" dir="5400000" algn="bl" rotWithShape="0">
              <a:srgbClr val="9AA9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67919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679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3160923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Access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3618123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Confined, toxic, or high-pressure pipelines put inspection personnel at risk.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19856" y="24231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5F8FA"/>
          </a:solidFill>
          <a:ln w="12700">
            <a:solidFill>
              <a:srgbClr val="E1E8EE"/>
            </a:solidFill>
            <a:prstDash val="solid"/>
          </a:ln>
          <a:effectLst>
            <a:outerShdw blurRad="76200" dist="25400" dir="5400000" algn="bl" rotWithShape="0">
              <a:srgbClr val="9AA9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48456" y="267919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48456" y="2679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21024" y="3160923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Robot Limits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21024" y="3618123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rigid in-pipe robots stall at elbows, bends, and vertical transitions.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91072" y="24231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5F8FA"/>
          </a:solidFill>
          <a:ln w="12700">
            <a:solidFill>
              <a:srgbClr val="E1E8EE"/>
            </a:solidFill>
            <a:prstDash val="solid"/>
          </a:ln>
          <a:effectLst>
            <a:outerShdw blurRad="76200" dist="25400" dir="5400000" algn="bl" rotWithShape="0">
              <a:srgbClr val="9AA9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19672" y="267919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19672" y="2679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3160923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Defects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3618123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Cracks, corrosion, dents &amp; weld flaws often go unlocalized until failure occurs.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62288" y="24231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5F8FA"/>
          </a:solidFill>
          <a:ln w="12700">
            <a:solidFill>
              <a:srgbClr val="E1E8EE"/>
            </a:solidFill>
            <a:prstDash val="solid"/>
          </a:ln>
          <a:effectLst>
            <a:outerShdw blurRad="76200" dist="25400" dir="5400000" algn="bl" rotWithShape="0">
              <a:srgbClr val="9AA9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390888" y="267919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445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90888" y="2679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63456" y="3160923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Downtime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63456" y="3618123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leaks and shutdowns are far costlier than preventive inspection.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50749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robot that self-adjusts to 6-8" diameter pipe, flexibly navigates elbows and vertical sections, inspects for defects, and maps their exact location for maintenance crews.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of Existing In-Pipe Robots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In-pipe robots are broadly classified by locomotion and wall-contact form (Xie et al., 2021):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78949"/>
              </p:ext>
            </p:extLst>
          </p:nvPr>
        </p:nvGraphicFramePr>
        <p:xfrm>
          <a:off x="548640" y="1874520"/>
          <a:ext cx="11064240" cy="40050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9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Locomotion Principle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Wheel 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Passive/active wheels roll along wall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traction on inclines; limited adaptability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Wall-press 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legs/wheels press wall, 120° apart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for rectangular ducts; resistance rises on uneven walls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Self-lock inchworm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Wedge locking via permanent magnets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Walks in one direction only unless extra actuator added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Screw-drive 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screw rotation against wall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actuators increase control complexity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Pneumatic peristaltic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Expandable chambers + coil spring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bulky compressed-gas supply 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Cam-Linkage Robot (CLR)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Single-motor cam + linkage, bidirectional creep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i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 body — limited to near-constant-diameter straight pipe (360–400 mm)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Xie Q, Liu S, Ma X. “Design of a novel inchworm in-pipe robot based on cam-linkage mechanism.” Advances in Mechanical Engineering, 2021.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Papers Referenced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literature streams inform this project: in-pipe locomotion, and tendon-driven continuum robotics.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451795"/>
              </p:ext>
            </p:extLst>
          </p:nvPr>
        </p:nvGraphicFramePr>
        <p:xfrm>
          <a:off x="564776" y="1874520"/>
          <a:ext cx="11048104" cy="3894720"/>
        </p:xfrm>
        <a:graphic>
          <a:graphicData uri="http://schemas.openxmlformats.org/drawingml/2006/table">
            <a:tbl>
              <a:tblPr/>
              <a:tblGrid>
                <a:gridCol w="623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4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(Year)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Focus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 Taken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Xie, Liu &amp; Ma (2021)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Inchworm in-pipe robot based on cam-linkage mechanism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for single-motor bidirectional in-pipe drive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Webster III &amp; Jones (2010)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and kinematic modeling of constant curvature continuum robots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Constant-curvature (PCC) model for TDCR shape control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Rucker &amp; Webster III (2011)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Statics and dynamics of continuum robots with general tendon routing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Cosserat-rod statics for bending under external wall load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Kato, Okumura, Song, Golby &amp; Hata (2015)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Tendon-driven continuum robot: tension propagation 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Tendon friction / hysteresis along spacer-disk backbones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Burgner-Kahrs, Rucker &amp; Choset (2015)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Continuum robots for medical applications: a survey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taxonomy and actuation trade-offs for continuum links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Perugini &amp; Russo (2024)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Monolithic 3D-printed tendon-driven continuum robot designs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Single-piece TPU backbone; removes multi-part disk assembly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references are peer-reviewed journal or conference publications.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Observations: How Our System Differs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reference solves one part of the problem; none combines wall traction with continuum steering for 6-8″ pipe.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595866"/>
              </p:ext>
            </p:extLst>
          </p:nvPr>
        </p:nvGraphicFramePr>
        <p:xfrm>
          <a:off x="548640" y="1874520"/>
          <a:ext cx="11064240" cy="3977240"/>
        </p:xfrm>
        <a:graphic>
          <a:graphicData uri="http://schemas.openxmlformats.org/drawingml/2006/table">
            <a:tbl>
              <a:tblPr/>
              <a:tblGrid>
                <a:gridCol w="6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2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Their System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Our System Differs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stepper drives cam groups for bidirectional inchworm creep in 360-400 mm straight pipe. Rigid front and rear bodies.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drive continuously on six powered wheels instead of creeping, and replace the rigid coupling with a bendable TDCR link for elbows.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Establishes constant-curvature kinematics for continuum arms mounted on a fixed base.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apply the same model, but to a mobile inter-module steering joint rather than a fixed-base manipulator.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continuum statics under external loading, validated on a lab bench prototype.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external load is continuous pipe-wall contact, so this model sets our tendon-tension budget in a confined environment.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Quantifies tendon tension loss along spacer-disk backbones in a surgical endoscope.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adopt the hysteresis insight and close the loop with onboard IMU feedback rather than open-loop tendon commands.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Surveys continuum designs for medical use: catheters, endoscopes, surgical arms.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TDCRs are unexplored for in-pipe locomotion, which is the gap our architecture addresses.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Prints a whole continuum segment as one TPU part instead of assembling dozens of vertebrae.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informs our backbone fabrication route, keeping part count and cost inside our budget.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800" marR="82800" anchor="ctr">
                    <a:lnL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every reference addresses locomotion or continuum bending — none addresses both together.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&amp; Motivation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9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Literature Shows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7548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wall-press &amp; wheel robots cannot pass elbows or vertical bends smoothly.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Self-lock inchworm robots are single-direction unless a second actuator is added, raising control complexity.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proves a single motor can drive bidirectional inchworm creep — but its rigid crank-linkage body still cannot flex through bends.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Multi-DoF peristaltic/soft robots handle bends but need complex or pneumatic control (compressed air supply, many DoF).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Address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7548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single-motor-class design combines active diameter-adaptive wheeled traction with true continuum (multi-bend) flexibility.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in-pipe robots integrate onboard vision-based defect detection with automatic digital path + defect mapping.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‘wheeled body + Tendon-Driven Continuum Robot (TDCR) link’ has not been explored for 6-8" pipelines in this literature.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2788920"/>
          </a:xfrm>
          <a:prstGeom prst="roundRect">
            <a:avLst>
              <a:gd name="adj" fmla="val 2759"/>
            </a:avLst>
          </a:prstGeom>
          <a:solidFill>
            <a:srgbClr val="F5F8FA"/>
          </a:solidFill>
          <a:ln w="12700">
            <a:solidFill>
              <a:srgbClr val="E1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5176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Locomotion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six-wheel self-adjusting mechanism maintaining continuous wall contact across 6-8" pipe diameters.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19856" y="1600200"/>
            <a:ext cx="2651760" cy="2788920"/>
          </a:xfrm>
          <a:prstGeom prst="roundRect">
            <a:avLst>
              <a:gd name="adj" fmla="val 2759"/>
            </a:avLst>
          </a:prstGeom>
          <a:solidFill>
            <a:srgbClr val="F5F8FA"/>
          </a:solidFill>
          <a:ln w="12700">
            <a:solidFill>
              <a:srgbClr val="E1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19856" y="1600200"/>
            <a:ext cx="2651760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02736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02736" y="2423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Steering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02736" y="297180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Tendon-Driven Continuum Robot (TDCR) link for flexible navigation through elbows, bends &amp; vertical sections.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91072" y="1600200"/>
            <a:ext cx="2651760" cy="2788920"/>
          </a:xfrm>
          <a:prstGeom prst="roundRect">
            <a:avLst>
              <a:gd name="adj" fmla="val 2759"/>
            </a:avLst>
          </a:prstGeom>
          <a:solidFill>
            <a:srgbClr val="F5F8FA"/>
          </a:solidFill>
          <a:ln w="12700">
            <a:solidFill>
              <a:srgbClr val="E1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91072" y="1600200"/>
            <a:ext cx="2651760" cy="1097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73952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73952" y="2423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73952" y="297180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vision &amp; sensing modules to detect cracks, corrosion, dents and weld irregularities in real time.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62288" y="1600200"/>
            <a:ext cx="2651760" cy="2788920"/>
          </a:xfrm>
          <a:prstGeom prst="roundRect">
            <a:avLst>
              <a:gd name="adj" fmla="val 2759"/>
            </a:avLst>
          </a:prstGeom>
          <a:solidFill>
            <a:srgbClr val="F5F8FA"/>
          </a:solidFill>
          <a:ln w="12700">
            <a:solidFill>
              <a:srgbClr val="E1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62288" y="1600200"/>
            <a:ext cx="2651760" cy="109728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45168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45168" y="2423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Path Mapping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45168" y="297180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onboard digital map recording the traversal route and precise defect locations for maintenance planning.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objective is specific and measurable — validated in the Feasibility &amp; Progress sections.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9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50749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 </a:t>
            </a:r>
            <a:r>
              <a:rPr lang="en-US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inspection efficiency, reduced manual intervention in hazardous environments, and more reliable pipeline health monitoring across industries.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with UN Sustainable Development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84832" cy="4114800"/>
          </a:xfrm>
          <a:prstGeom prst="roundRect">
            <a:avLst>
              <a:gd name="adj" fmla="val 4386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79576" y="2011680"/>
            <a:ext cx="822960" cy="321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9</a:t>
            </a:r>
            <a:endParaRPr lang="en-US" sz="15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4023360"/>
            <a:ext cx="181051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resilient, innovative technology for critical pipeline infrastructure.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16352" y="1737360"/>
            <a:ext cx="2084832" cy="4114800"/>
          </a:xfrm>
          <a:prstGeom prst="roundRect">
            <a:avLst>
              <a:gd name="adj" fmla="val 4386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47288" y="2011680"/>
            <a:ext cx="822960" cy="321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6</a:t>
            </a:r>
            <a:endParaRPr lang="en-US" sz="15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53512" y="4023360"/>
            <a:ext cx="181051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integrity of water-distribution pipelines against leaks and contamination.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4064" y="1737360"/>
            <a:ext cx="2084832" cy="4114800"/>
          </a:xfrm>
          <a:prstGeom prst="roundRect">
            <a:avLst>
              <a:gd name="adj" fmla="val 4386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15000" y="2011680"/>
            <a:ext cx="822960" cy="321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7</a:t>
            </a:r>
            <a:endParaRPr lang="en-US" sz="15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21224" y="4023360"/>
            <a:ext cx="181051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reliability monitoring of oil, gas and power-generation pipelines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51776" y="1737360"/>
            <a:ext cx="2084832" cy="4114800"/>
          </a:xfrm>
          <a:prstGeom prst="roundRect">
            <a:avLst>
              <a:gd name="adj" fmla="val 4386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82712" y="2011680"/>
            <a:ext cx="822960" cy="321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3</a:t>
            </a:r>
            <a:endParaRPr lang="en-US" sz="15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88936" y="301752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88936" y="4023360"/>
            <a:ext cx="181051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need for personnel to enter hazardous, confined pipe environments.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19488" y="1737360"/>
            <a:ext cx="2084832" cy="4114800"/>
          </a:xfrm>
          <a:prstGeom prst="roundRect">
            <a:avLst>
              <a:gd name="adj" fmla="val 4386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250424" y="20116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12</a:t>
            </a:r>
            <a:endParaRPr lang="en-US" sz="15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9756648" y="4023360"/>
            <a:ext cx="181051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preventive maintenance, cutting resource loss from leaks and failures.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0698002-5127-F2F3-3D38-ECCD1487D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396" y="2607079"/>
            <a:ext cx="1307592" cy="1307592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550E14D-8AA7-6927-027A-76C3E7B32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4059" y="2598454"/>
            <a:ext cx="1324841" cy="1324841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8236864-2F8B-07B7-2C29-CEB77161A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6347" y="2607079"/>
            <a:ext cx="1324841" cy="1324841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8384196-0D43-BC1E-B75A-78DDC1220E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323" y="2594141"/>
            <a:ext cx="1333466" cy="1333466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91CAD03-677C-17BB-79A5-BD94D8EC48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8108" y="2598454"/>
            <a:ext cx="1307592" cy="1307592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adaptive wheeled bodies (front &amp; rear) connected by a flexible Tendon-Driven Continuum Robot (TDCR) link — combining stable traction with the articulation rigid inchworm robots lack.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5603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Six-Wheel Self-Adjusting Body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28346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Spring-biased wheel arms maintain continuous wall contact from 4– 6" diameter, front &amp; rear.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40156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TDCR Flexible Link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51560" y="367588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Tendon-actuated multi-DOF bending section enables smooth passage through elbows &amp; vertical risers.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8853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288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424281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Sensing Payload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51560" y="451713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camera + proximity/IMU sensors scan for cracks, corrosion, dents &amp; weld flaws.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1297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445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5129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508406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Processing Unit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51560" y="535838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traversal path and defect coordinates, generating a digital inspection map in real time.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63040"/>
            <a:ext cx="5577840" cy="4852700"/>
          </a:xfrm>
          <a:prstGeom prst="roundRect">
            <a:avLst>
              <a:gd name="adj" fmla="val 2041"/>
            </a:avLst>
          </a:prstGeom>
          <a:solidFill>
            <a:srgbClr val="E9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Rough CAD Model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384280" y="6546925"/>
            <a:ext cx="640080" cy="203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E595223-8D48-7277-36FF-CA6A20B251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431" t="17685" r="16939" b="6667"/>
          <a:stretch>
            <a:fillRect/>
          </a:stretch>
        </p:blipFill>
        <p:spPr>
          <a:xfrm>
            <a:off x="6631940" y="2087099"/>
            <a:ext cx="4385310" cy="3972060"/>
          </a:xfrm>
          <a:prstGeom prst="rect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2011680" cy="868680"/>
          </a:xfrm>
          <a:prstGeom prst="roundRect">
            <a:avLst>
              <a:gd name="adj" fmla="val 947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Wheel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2171700"/>
            <a:ext cx="274320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08960" y="1737360"/>
            <a:ext cx="2011680" cy="868680"/>
          </a:xfrm>
          <a:prstGeom prst="roundRect">
            <a:avLst>
              <a:gd name="adj" fmla="val 947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17373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TDCR Steering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0" y="2171700"/>
            <a:ext cx="274320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94960" y="1737360"/>
            <a:ext cx="2011680" cy="868680"/>
          </a:xfrm>
          <a:prstGeom prst="roundRect">
            <a:avLst>
              <a:gd name="adj" fmla="val 947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94960" y="17373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Sensing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(Camera / IMU)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2606040"/>
            <a:ext cx="0" cy="45720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0" y="2606040"/>
            <a:ext cx="0" cy="45720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0" y="2606040"/>
            <a:ext cx="0" cy="45720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306324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063240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Control &amp; Processing Unit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(Motor drive • Defect detection • Localization • Path logging)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0" y="4023360"/>
            <a:ext cx="0" cy="68580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40280" y="4709160"/>
            <a:ext cx="3749040" cy="868680"/>
          </a:xfrm>
          <a:prstGeom prst="roundRect">
            <a:avLst>
              <a:gd name="adj" fmla="val 9474"/>
            </a:avLst>
          </a:prstGeom>
          <a:solidFill>
            <a:srgbClr val="E9F3F7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2240280" y="47091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Path Map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Defect Location Report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01000" y="1737360"/>
            <a:ext cx="3611880" cy="3840480"/>
          </a:xfrm>
          <a:prstGeom prst="roundRect">
            <a:avLst>
              <a:gd name="adj" fmla="val 2278"/>
            </a:avLst>
          </a:prstGeom>
          <a:solidFill>
            <a:srgbClr val="F5F8FA"/>
          </a:solidFill>
          <a:ln w="12700">
            <a:solidFill>
              <a:srgbClr val="E1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233172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+ TDCR split keeps propulsion and steering functions independent — easier control, similar in spirit to CLR’s single-function modules.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sensing feed directly into the onboard unit, enabling real-time flagging rather than post-inspection review.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map output mirrors the maintenance-ready format requested in the proposal (route + defect coordinates).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Mechanism Design Comparison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64920"/>
            <a:ext cx="5349240" cy="5209032"/>
          </a:xfrm>
          <a:prstGeom prst="roundRect">
            <a:avLst>
              <a:gd name="adj" fmla="val 1758"/>
            </a:avLst>
          </a:prstGeom>
          <a:solidFill>
            <a:srgbClr val="F5F8FA"/>
          </a:solidFill>
          <a:ln w="12700">
            <a:solidFill>
              <a:srgbClr val="E1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64920"/>
            <a:ext cx="5349240" cy="502920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6492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Cam-Linkage Robot &amp; In-pipe inspection robot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50720"/>
            <a:ext cx="4800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stepper motor drives symmetric cam groups + linkage for bidirectional inchworm creep.</a:t>
            </a:r>
            <a:endParaRPr lang="en-US" sz="16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pressure angle reduced to ≈ 0° — avoids self-locking, keeps propulsion efficient.</a:t>
            </a:r>
            <a:endParaRPr lang="en-US" sz="16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provision for elbows, bends or vertical transitions — rigid front/rear bodies only.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264920"/>
            <a:ext cx="5349240" cy="5209032"/>
          </a:xfrm>
          <a:prstGeom prst="roundRect">
            <a:avLst>
              <a:gd name="adj" fmla="val 175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1264920"/>
            <a:ext cx="534924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126492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Wheel + TDCR Hybrid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1950720"/>
            <a:ext cx="4800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spring-loaded self-adjusting wheels per body give continuous traction across a 6-8" diameter range.</a:t>
            </a:r>
            <a:endParaRPr lang="en-US" sz="16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Tendon-Driven Continuum link adds multi-DOF bending — unlike CLR’s rigid crank, it flexes through elbows.</a:t>
            </a:r>
            <a:endParaRPr lang="en-US" sz="16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onboard vision + sensing for defect capture, absent in the CLR reference design.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338560" y="6537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 16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D731FE-1BE6-71C3-5DC8-4BD02BD2C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3843816"/>
            <a:ext cx="2496432" cy="24256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E148F1F-AD94-82B9-CD43-3C94CA98AF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431" t="17685" r="16939" b="6667"/>
          <a:stretch>
            <a:fillRect/>
          </a:stretch>
        </p:blipFill>
        <p:spPr>
          <a:xfrm>
            <a:off x="7753985" y="4124165"/>
            <a:ext cx="2368550" cy="2145350"/>
          </a:xfrm>
          <a:prstGeom prst="rect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DC3CE10-8990-71D4-D20F-EFA74EB9FB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77" t="15152" r="8651" b="16536"/>
          <a:stretch>
            <a:fillRect/>
          </a:stretch>
        </p:blipFill>
        <p:spPr>
          <a:xfrm>
            <a:off x="711588" y="3869436"/>
            <a:ext cx="2496432" cy="24502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Technical, Economic &amp; Operational Feasibility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5F8FA"/>
          </a:solidFill>
          <a:ln w="12700">
            <a:solidFill>
              <a:srgbClr val="E1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4767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17320" y="1947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1089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Six-wheel adaptive mechanisms &amp; TDCR continuum links are individually proven in literature.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steppers, tendon actuators, and machine-vision cameras meet payload/precision needs.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is the novel step — mechanically compatible, feasible on a standard fabrication timeline.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5F8FA"/>
          </a:solidFill>
          <a:ln w="12700">
            <a:solidFill>
              <a:srgbClr val="E1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26280" y="19476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66360" y="1947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2651760"/>
            <a:ext cx="31089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set (motors, microcontroller, camera, sensors) is low-cost relative to industrial deployment value.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costly unplanned shutdowns &amp; leak repairs — strong cost-avoidance case.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multiple 6-8" pipeline assets, improving return on a single build.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5F8FA"/>
          </a:solidFill>
          <a:ln w="12700">
            <a:solidFill>
              <a:srgbClr val="E1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75320" y="1947672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15400" y="1947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2651760"/>
            <a:ext cx="31089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via standard inspection access ports in oil &amp; gas, water, chemical, and power plants.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Tetherless or tethered operation both compatible with the proposed control architecture.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map output integrates directly into existing maintenance workflows.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8428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Achieved So Far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6304" cy="640080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wheel, wall-press, screw, inchworm &amp; pneumatic in-pipe robots; benchmarked against CLR.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60920" y="176479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60920" y="17647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46304" cy="640080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5328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Need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problem statement, research gap and SDG-aligned objectives.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60920" y="26060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60920" y="26060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146304" cy="640080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37413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Six-Wheel Mechanism CAD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67588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layout of spring-loaded self-adjusting wheel arms underway.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60920" y="344728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60920" y="344728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15384"/>
            <a:ext cx="146304" cy="640080"/>
          </a:xfrm>
          <a:prstGeom prst="roundRect">
            <a:avLst>
              <a:gd name="adj" fmla="val 1875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21538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TDCR Kinematic Modeling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451713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Tendon routing and bending-section kinematics being formulated.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0920" y="428853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60920" y="428853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56632"/>
            <a:ext cx="146304" cy="640080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50566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&amp; Vision Selection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535838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Shortlisting camera and proximity/IMU sensors for defect detection.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60920" y="5129784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60920" y="512978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0" y="1691640"/>
            <a:ext cx="2468880" cy="4114800"/>
          </a:xfrm>
          <a:prstGeom prst="roundRect">
            <a:avLst>
              <a:gd name="adj" fmla="val 296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37260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72600" y="2331720"/>
            <a:ext cx="2057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wheel-arm &amp; TDCR CAD</a:t>
            </a:r>
            <a:endParaRPr lang="en-US" sz="1400" dirty="0"/>
          </a:p>
          <a:p>
            <a:pPr marL="127000" indent="-1270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 prototype</a:t>
            </a:r>
            <a:endParaRPr lang="en-US" sz="1400" dirty="0"/>
          </a:p>
          <a:p>
            <a:pPr marL="127000" indent="-1270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control firmware</a:t>
            </a:r>
            <a:endParaRPr lang="en-US" sz="1400" dirty="0"/>
          </a:p>
          <a:p>
            <a:pPr marL="127000" indent="-1270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mock pipeline rig</a:t>
            </a:r>
            <a:endParaRPr lang="en-US" sz="1400" dirty="0"/>
          </a:p>
          <a:p>
            <a:pPr marL="127000" indent="-1270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defect detection accuracy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273883" y="6537960"/>
            <a:ext cx="7504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Final Prototype Will Deliver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562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6-8"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pipe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 range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8562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2-Way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5603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8562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25603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logging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445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52560" y="18562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52560" y="25603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+ defect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output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Summary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10972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that autonomously navigates straight sections, elbows and vertical transitions in 6-8" pipe.</a:t>
            </a:r>
            <a:endParaRPr lang="en-US" sz="20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vision system flags cracks, corrosion, dents and weld irregularities during traversal.</a:t>
            </a:r>
            <a:endParaRPr lang="en-US" sz="20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inspection map that pinpoints defect locations along the travelled route for maintenance crews.</a:t>
            </a:r>
            <a:endParaRPr lang="en-US" sz="20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intervention and improved inspection efficiency across oil &amp; gas, water, chemical and power sectors.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128917" y="6537960"/>
            <a:ext cx="8954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3840480"/>
            <a:ext cx="3840480" cy="38404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166360" y="4160520"/>
            <a:ext cx="1828800" cy="0"/>
          </a:xfrm>
          <a:prstGeom prst="line">
            <a:avLst/>
          </a:prstGeom>
          <a:noFill/>
          <a:ln w="25400">
            <a:solidFill>
              <a:srgbClr val="8FD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Pipe Inspection Robot  —  Project 1, Review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2017</Words>
  <Application>Microsoft Office PowerPoint</Application>
  <PresentationFormat>Widescreen</PresentationFormat>
  <Paragraphs>295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Anjali Ullas</cp:lastModifiedBy>
  <cp:revision>12</cp:revision>
  <dcterms:created xsi:type="dcterms:W3CDTF">2026-08-18T04:39:52Z</dcterms:created>
  <dcterms:modified xsi:type="dcterms:W3CDTF">2026-08-19T00:39:57Z</dcterms:modified>
</cp:coreProperties>
</file>